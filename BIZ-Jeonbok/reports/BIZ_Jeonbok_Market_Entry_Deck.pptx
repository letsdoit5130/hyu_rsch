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1" sz="3600">
                <a:solidFill>
                  <a:srgbClr val="FFFFFF"/>
                </a:solidFill>
              </a:defRPr>
            </a:pPr>
            <a:r>
              <a:t>🦪 한국산 전복(Abalone) 글로벌 시장개척 전략 덱</a:t>
            </a:r>
          </a:p>
          <a:p>
            <a:pPr algn="l">
              <a:defRPr sz="2000">
                <a:solidFill>
                  <a:srgbClr val="D0E0F0"/>
                </a:solidFill>
              </a:defRPr>
            </a:pPr>
            <a:r>
              <a:t>UN Comtrade 무역 분석, 15개 차트, 미수 가격 구조 및 로컬 파트너 소싱 전략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1F497D"/>
                </a:solidFill>
              </a:defRPr>
            </a:pPr>
            <a:r>
              <a:t>📌 Executive Summary: 미수(Size)별 가격 구조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7315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품목 규격 / 미수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마리당 중량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주요 수출국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평균 단가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주요 타깃 시장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소싱 추천 포인트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10미 미만 (대과)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100g 이상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한국 완도, 호주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$42.0 ~ $48.0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일본 고급 일식집, 료칸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고급 항공직송 프리미엄 오퍼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 ~ 12미 (중대과)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80g ~ 100g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한국 완도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$36.0 ~ $40.0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도쿄 도요스 시장 도매상사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메인 수출 주력 미수 1차 상사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13 ~ 15미 (중과)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65g ~ 80g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한국, 중국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$30.0 ~ $34.0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관서 레스토랑, 아시안 마트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H-Mart, 99 Ranch 채널 공급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15 ~ 20미 (중소과)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50g ~ 65g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한국, 베트남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$24.0 ~ $28.0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냉동 IQF 가공, 외식 체인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해상 IQF 컨테이너 대량 공급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20미 이상 (소과)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50g 미만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한국, 중국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$18.0 ~ $22.0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통조림 가공, HMR 가공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통조림 FDA 승인 공장 연동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1F497D"/>
                </a:solidFill>
              </a:defRPr>
            </a:pPr>
            <a:r>
              <a:t>📊 1. 연도별 무역액 추이</a:t>
            </a:r>
          </a:p>
        </p:txBody>
      </p:sp>
      <p:pic>
        <p:nvPicPr>
          <p:cNvPr id="3" name="Picture 2" descr="01_annual_trad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80160"/>
            <a:ext cx="9448495" cy="47242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1F497D"/>
                </a:solidFill>
              </a:defRPr>
            </a:pPr>
            <a:r>
              <a:t>📊 2. TOP 10 주요 수출국 무역액</a:t>
            </a:r>
          </a:p>
        </p:txBody>
      </p:sp>
      <p:pic>
        <p:nvPicPr>
          <p:cNvPr id="3" name="Picture 2" descr="02_top_exporter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80160"/>
            <a:ext cx="9448495" cy="47242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1F497D"/>
                </a:solidFill>
              </a:defRPr>
            </a:pPr>
            <a:r>
              <a:t>📊 3. TOP 10 주요 수입국 무역액</a:t>
            </a:r>
          </a:p>
        </p:txBody>
      </p:sp>
      <p:pic>
        <p:nvPicPr>
          <p:cNvPr id="3" name="Picture 2" descr="03_top_importer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80160"/>
            <a:ext cx="9448495" cy="47242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1F497D"/>
                </a:solidFill>
              </a:defRPr>
            </a:pPr>
            <a:r>
              <a:t>📊 4. 전복 평균 단가 ($/kg) 분포</a:t>
            </a:r>
          </a:p>
        </p:txBody>
      </p:sp>
      <p:pic>
        <p:nvPicPr>
          <p:cNvPr id="3" name="Picture 2" descr="04_unit_pric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80160"/>
            <a:ext cx="9448495" cy="47242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1F497D"/>
                </a:solidFill>
              </a:defRPr>
            </a:pPr>
            <a:r>
              <a:t>📊 5. 월별 거래 계절성 지수</a:t>
            </a:r>
          </a:p>
        </p:txBody>
      </p:sp>
      <p:pic>
        <p:nvPicPr>
          <p:cNvPr id="3" name="Picture 2" descr="05_monthly_season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80160"/>
            <a:ext cx="9448495" cy="47242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1F497D"/>
                </a:solidFill>
              </a:defRPr>
            </a:pPr>
            <a:r>
              <a:t>📊 6. HS Code별 거래액 점유율</a:t>
            </a:r>
          </a:p>
        </p:txBody>
      </p:sp>
      <p:pic>
        <p:nvPicPr>
          <p:cNvPr id="3" name="Picture 2" descr="06_hs_code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80160"/>
            <a:ext cx="9448495" cy="94484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1F497D"/>
                </a:solidFill>
              </a:defRPr>
            </a:pPr>
            <a:r>
              <a:t>📊 7. 물량 vs 단가 상관관계 산점도</a:t>
            </a:r>
          </a:p>
        </p:txBody>
      </p:sp>
      <p:pic>
        <p:nvPicPr>
          <p:cNvPr id="3" name="Picture 2" descr="07_price_vs_weight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80160"/>
            <a:ext cx="9448495" cy="47242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1F497D"/>
                </a:solidFill>
              </a:defRPr>
            </a:pPr>
            <a:r>
              <a:t>📊 8. TOP 5 수입국 연도별 성장 추이</a:t>
            </a:r>
          </a:p>
        </p:txBody>
      </p:sp>
      <p:pic>
        <p:nvPicPr>
          <p:cNvPr id="3" name="Picture 2" descr="08_top5_importer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80160"/>
            <a:ext cx="9448495" cy="47242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1F497D"/>
                </a:solidFill>
              </a:defRPr>
            </a:pPr>
            <a:r>
              <a:t>📊 9. 수입 시장 파레토 집중도 분석</a:t>
            </a:r>
          </a:p>
        </p:txBody>
      </p:sp>
      <p:pic>
        <p:nvPicPr>
          <p:cNvPr id="3" name="Picture 2" descr="09_market_concentration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80160"/>
            <a:ext cx="9448495" cy="47242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1F497D"/>
                </a:solidFill>
              </a:defRPr>
            </a:pPr>
            <a:r>
              <a:t>📊 10. 주요 수입국별 연도별 평균 단가 히트맵</a:t>
            </a:r>
          </a:p>
        </p:txBody>
      </p:sp>
      <p:pic>
        <p:nvPicPr>
          <p:cNvPr id="3" name="Picture 2" descr="10_export_pric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80160"/>
            <a:ext cx="9448495" cy="566909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1F497D"/>
                </a:solidFill>
              </a:defRPr>
            </a:pPr>
            <a:r>
              <a:t>📊 11. 무역 구조 폭포수 분석</a:t>
            </a:r>
          </a:p>
        </p:txBody>
      </p:sp>
      <p:pic>
        <p:nvPicPr>
          <p:cNvPr id="3" name="Picture 2" descr="11_trade_balance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80160"/>
            <a:ext cx="9448495" cy="472424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1F497D"/>
                </a:solidFill>
              </a:defRPr>
            </a:pPr>
            <a:r>
              <a:t>📊 12. TOP 주요 국가별 단가 변동성 박스플롯</a:t>
            </a:r>
          </a:p>
        </p:txBody>
      </p:sp>
      <p:pic>
        <p:nvPicPr>
          <p:cNvPr id="3" name="Picture 2" descr="12_country_price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80160"/>
            <a:ext cx="9448495" cy="472424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1F497D"/>
                </a:solidFill>
              </a:defRPr>
            </a:pPr>
            <a:r>
              <a:t>📊 13. 시장 집중도(HHI Index) 추이</a:t>
            </a:r>
          </a:p>
        </p:txBody>
      </p:sp>
      <p:pic>
        <p:nvPicPr>
          <p:cNvPr id="3" name="Picture 2" descr="13_hhi_index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80160"/>
            <a:ext cx="9448495" cy="472424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1F497D"/>
                </a:solidFill>
              </a:defRPr>
            </a:pPr>
            <a:r>
              <a:t>📊 14. 미수(Size) 규격별 가격 구조</a:t>
            </a:r>
          </a:p>
        </p:txBody>
      </p:sp>
      <p:pic>
        <p:nvPicPr>
          <p:cNvPr id="3" name="Picture 2" descr="14_size_pricing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80160"/>
            <a:ext cx="9448495" cy="472424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1F497D"/>
                </a:solidFill>
              </a:defRPr>
            </a:pPr>
            <a:r>
              <a:t>📊 15. 전복 유망 국가 시장 성숙도-단가 매트릭스</a:t>
            </a:r>
          </a:p>
        </p:txBody>
      </p:sp>
      <p:pic>
        <p:nvPicPr>
          <p:cNvPr id="3" name="Picture 2" descr="15_promising_country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80160"/>
            <a:ext cx="9448495" cy="472424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1F497D"/>
                </a:solidFill>
              </a:defRPr>
            </a:pPr>
            <a:r>
              <a:t>🎁 4대 특별 부록 (1인 상사 실전 무역 영업 패키지)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800"/>
              </a:spcAft>
              <a:defRPr sz="1600">
                <a:solidFill>
                  <a:srgbClr val="333333"/>
                </a:solidFill>
              </a:defRPr>
            </a:pPr>
            <a:r>
              <a:t>1. 1인 상사 실전 B2B 오퍼서: FOB/CIF 단가, MOQ, IQF/포장 규격 스펙, HACCP/FDA 검역 승인 패키지 제공</a:t>
            </a:r>
          </a:p>
          <a:p>
            <a:pPr>
              <a:spcAft>
                <a:spcPts val="1800"/>
              </a:spcAft>
              <a:defRPr sz="1600">
                <a:solidFill>
                  <a:srgbClr val="333333"/>
                </a:solidFill>
              </a:defRPr>
            </a:pPr>
            <a:r>
              <a:t>2. 해외 바이어 콜드 어프로치: 1차 Cold Pitch 이메일 ➔ 2차 LinkedIn InMail ➔ 3차 모바일/전화 협의 3단계 파이프라인</a:t>
            </a:r>
          </a:p>
          <a:p>
            <a:pPr>
              <a:spcAft>
                <a:spcPts val="1800"/>
              </a:spcAft>
              <a:defRPr sz="1600">
                <a:solidFill>
                  <a:srgbClr val="333333"/>
                </a:solidFill>
              </a:defRPr>
            </a:pPr>
            <a:r>
              <a:t>3. 글로벌 수산/식품 주요 박람회: 도쿄 수산전시회(8월), 보스턴 SENA 박람회(3월), 홍콩/상하이 수산전시회 소싱 가이드</a:t>
            </a:r>
          </a:p>
          <a:p>
            <a:pPr>
              <a:spcAft>
                <a:spcPts val="1800"/>
              </a:spcAft>
              <a:defRPr sz="1600">
                <a:solidFill>
                  <a:srgbClr val="333333"/>
                </a:solidFill>
              </a:defRPr>
            </a:pPr>
            <a:r>
              <a:t>4. 무역보험공사 수출안전망: L/C, T/T 결제 조건 안전책, K-SURE 단기수출보험 가입 및 화물 적하보험 온도 로깅 장치 부착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