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600">
                <a:solidFill>
                  <a:srgbClr val="FFFFFF"/>
                </a:solidFill>
              </a:defRPr>
            </a:pPr>
            <a:r>
              <a:t>🦪 한국산 전복(Abalone) 글로벌 시장개척 전략 덱</a:t>
            </a:r>
          </a:p>
          <a:p>
            <a:pPr>
              <a:defRPr sz="2000">
                <a:solidFill>
                  <a:srgbClr val="D0E0F0"/>
                </a:solidFill>
              </a:defRPr>
            </a:pPr>
            <a:r>
              <a:t>UN Comtrade 무역 분석, 15개 차트, TOP 10 유망국가 10개국 완비 및 파트너 소싱 전략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497D"/>
                </a:solidFill>
              </a:defRPr>
            </a:pPr>
            <a:r>
              <a:t>📌 Executive Summary: 미수(Size)별 가격 구조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  <a:gridCol w="1783080"/>
                <a:gridCol w="1783080"/>
                <a:gridCol w="1783080"/>
              </a:tblGrid>
              <a:tr h="7315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품목 규격 / 미수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마리당 중량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주요 수출국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평균 단가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주요 타깃 시장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소싱 추천 포인트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10미 미만 (대과)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100g 이상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한국 완도, 호주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$42.0 ~ $48.0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일본 고급 일식집, 료칸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고급 항공직송 프리미엄 오퍼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10 ~ 12미 (중대과)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80g ~ 100g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한국 완도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$36.0 ~ $40.0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도쿄 도요스 시장 도매상사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메인 수출 주력 미수 1차 상사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13 ~ 15미 (중과)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65g ~ 80g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한국, 중국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$30.0 ~ $34.0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관서 레스토랑, 아시안 마트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H-Mart, 99 Ranch 채널 공급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15 ~ 20미 (중소과)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50g ~ 65g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한국, 베트남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$24.0 ~ $28.0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냉동 IQF 가공, 외식 체인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해상 IQF 컨테이너 대량 공급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20미 이상 (소과)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50g 미만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한국, 중국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$18.0 ~ $22.0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통조림 가공, HMR 가공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통조림 FDA 승인 공장 연동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200">
                <a:solidFill>
                  <a:srgbClr val="1F497D"/>
                </a:solidFill>
              </a:defRPr>
            </a:pPr>
            <a:r>
              <a:t>🗺️ [표 1] HS 0307.81 (활/신선 전복) TOP 10 유망 국가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69848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9696"/>
                <a:gridCol w="2139696"/>
                <a:gridCol w="2139696"/>
                <a:gridCol w="2139696"/>
                <a:gridCol w="2139696"/>
              </a:tblGrid>
              <a:tr h="47382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유망순위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타깃 국가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무역액 점유율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컨택 파트너 종류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시장개척 포인트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일본 (Japan)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도쿄 도요스 시장 수산물 수입 도매상사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완도산 활전복 페리/항공 직송 공급</a:t>
                      </a:r>
                    </a:p>
                  </a:txBody>
                  <a:tcPr/>
                </a:tc>
              </a:tr>
              <a:tr h="473825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중국 (China)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동해안 수산물 수입 및 유통 상사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산둥성/상하이 고급 호텔 체인 공급</a:t>
                      </a:r>
                    </a:p>
                  </a:txBody>
                  <a:tcPr/>
                </a:tc>
              </a:tr>
              <a:tr h="473825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홍콩 (Hong Kong)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고급 수산물 건재 시장 수입상사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고급 딤섬 및 레스토랑 직송 공급</a:t>
                      </a:r>
                    </a:p>
                  </a:txBody>
                  <a:tcPr/>
                </a:tc>
              </a:tr>
              <a:tr h="473825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대만 (Taiwan)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타이베이 고급 수산물 1차 수입상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일식 뷔페 및 연회장 활전복 공급</a:t>
                      </a:r>
                    </a:p>
                  </a:txBody>
                  <a:tcPr/>
                </a:tc>
              </a:tr>
              <a:tr h="473825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미국 (USA)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LA/NY 아시안 수산물 벤더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한인/아시안 고소득층 항공 직송</a:t>
                      </a:r>
                    </a:p>
                  </a:txBody>
                  <a:tcPr/>
                </a:tc>
              </a:tr>
              <a:tr h="473825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싱가포르 (Singapore)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마리나 베이 외식 그룹 벤더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고급 해산물 뷔페 및 호텔 공급</a:t>
                      </a:r>
                    </a:p>
                  </a:txBody>
                  <a:tcPr/>
                </a:tc>
              </a:tr>
              <a:tr h="473825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베트남 (Vietnam)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호치민/하노이 수산물 수입상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한국 식당가 및 고급 수산 레스토랑</a:t>
                      </a:r>
                    </a:p>
                  </a:txBody>
                  <a:tcPr/>
                </a:tc>
              </a:tr>
              <a:tr h="473825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캐나다 (Canada)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밴쿠버 아시안 수산 유통사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밴쿠버/토론토 아시안 마트 공급</a:t>
                      </a:r>
                    </a:p>
                  </a:txBody>
                  <a:tcPr/>
                </a:tc>
              </a:tr>
              <a:tr h="473825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태국 (Thailand)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방콕 고급 수산물 수입 대리점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방콕 5성급 호텔 수산물 오퍼</a:t>
                      </a:r>
                    </a:p>
                  </a:txBody>
                  <a:tcPr/>
                </a:tc>
              </a:tr>
              <a:tr h="47383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호주 (Australia)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시드니 아시안 식품 유통 벤더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호주 한인 마트 및 아시안 레스토랑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200">
                <a:solidFill>
                  <a:srgbClr val="1F497D"/>
                </a:solidFill>
              </a:defRPr>
            </a:pPr>
            <a:r>
              <a:t>🗺️ [표 2] HS 0307.83 (냉동 전복) TOP 10 유망 국가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69848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9696"/>
                <a:gridCol w="2139696"/>
                <a:gridCol w="2139696"/>
                <a:gridCol w="2139696"/>
                <a:gridCol w="2139696"/>
              </a:tblGrid>
              <a:tr h="47382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유망순위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타깃 국가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무역액 점유율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컨택 파트너 종류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시장개척 포인트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미국 (USA)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미 서부 최대 수산물 수입 벤더 (PASCO)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아시안 마트향 냉동 IQF 공급</a:t>
                      </a:r>
                    </a:p>
                  </a:txBody>
                  <a:tcPr/>
                </a:tc>
              </a:tr>
              <a:tr h="473825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대만 (Taiwan)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타이베이 식자재 수입 디스트리뷰터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뷔페/연회장향 IQF 냉동 대량 공급</a:t>
                      </a:r>
                    </a:p>
                  </a:txBody>
                  <a:tcPr/>
                </a:tc>
              </a:tr>
              <a:tr h="473825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일본 (Japan)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관서 지역 냉동 수산물 수입 대리점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성수기 외식 체인 원료 공급</a:t>
                      </a:r>
                    </a:p>
                  </a:txBody>
                  <a:tcPr/>
                </a:tc>
              </a:tr>
              <a:tr h="473825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홍콩 (Hong Kong)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냉동 수산물 전문 수입 유통사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외식 체인 및 호텔 냉동 IQF 공급</a:t>
                      </a:r>
                    </a:p>
                  </a:txBody>
                  <a:tcPr/>
                </a:tc>
              </a:tr>
              <a:tr h="473825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싱가포르 (Singapore)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동남아 아시안 식자재 유통 벤더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뷔페 및 딤섬 프랜차이즈 공급</a:t>
                      </a:r>
                    </a:p>
                  </a:txBody>
                  <a:tcPr/>
                </a:tc>
              </a:tr>
              <a:tr h="473825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중국 (China)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연안 도시 식품 가공 및 유통사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가공 원료용 냉동 IQF 전복 공급</a:t>
                      </a:r>
                    </a:p>
                  </a:txBody>
                  <a:tcPr/>
                </a:tc>
              </a:tr>
              <a:tr h="473825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캐나다 (Canada)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토론토 수산물 수입 벤더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아시안 마트 냉동 해산물 공급</a:t>
                      </a:r>
                    </a:p>
                  </a:txBody>
                  <a:tcPr/>
                </a:tc>
              </a:tr>
              <a:tr h="473825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베트남 (Vietnam)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외식 식자재 1차 수입상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프랜차이즈 레스토랑 IQF 공급</a:t>
                      </a:r>
                    </a:p>
                  </a:txBody>
                  <a:tcPr/>
                </a:tc>
              </a:tr>
              <a:tr h="473825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태국 (Thailand)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방콕 식자재 수입 대리점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외식 뷔페 및 씨푸드 레스토랑 공급</a:t>
                      </a:r>
                    </a:p>
                  </a:txBody>
                  <a:tcPr/>
                </a:tc>
              </a:tr>
              <a:tr h="47383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영국 (United Kingdom)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런던 아시안 식품 수입 벤더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런던 아시안 마트 및 한식당 공급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200">
                <a:solidFill>
                  <a:srgbClr val="1F497D"/>
                </a:solidFill>
              </a:defRPr>
            </a:pPr>
            <a:r>
              <a:t>🗺️ [표 3] HS 1605.57 (전복 통조림) TOP 10 유망 국가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69848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9696"/>
                <a:gridCol w="2139696"/>
                <a:gridCol w="2139696"/>
                <a:gridCol w="2139696"/>
                <a:gridCol w="2139696"/>
              </a:tblGrid>
              <a:tr h="47382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유망순위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타깃 국가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무역액 점유율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컨택 파트너 종류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시장개척 포인트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홍콩 (Hong Kong)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홍콩 셩완 수산물 건재 수입상사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춘절 명절 선물 세트용 B2B 캔 공급</a:t>
                      </a:r>
                    </a:p>
                  </a:txBody>
                  <a:tcPr/>
                </a:tc>
              </a:tr>
              <a:tr h="473825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싱가포르 (Singapore)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싱가포르 고급 선물 세트 유통 벤더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명절/기념일 프리미엄 캔 공급</a:t>
                      </a:r>
                    </a:p>
                  </a:txBody>
                  <a:tcPr/>
                </a:tc>
              </a:tr>
              <a:tr h="473825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미국 (USA)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북미 아시안 식품 수입 벤더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FDA LACF 승인 캔 통조림 유통</a:t>
                      </a:r>
                    </a:p>
                  </a:txBody>
                  <a:tcPr/>
                </a:tc>
              </a:tr>
              <a:tr h="473825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대만 (Taiwan)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명절 선물 세트 수입 유통사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명절 고급 전복 캔 선물 세트 공급</a:t>
                      </a:r>
                    </a:p>
                  </a:txBody>
                  <a:tcPr/>
                </a:tc>
              </a:tr>
              <a:tr h="473825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캐나다 (Canada)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밴쿠버 아시안 마트 유통 벤더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한인/중국인 마트 캔 전복 공급</a:t>
                      </a:r>
                    </a:p>
                  </a:txBody>
                  <a:tcPr/>
                </a:tc>
              </a:tr>
              <a:tr h="473825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호주 (Australia)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시드니/멜버른 아시안 식품 수입상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선물용 캔 전복 유통</a:t>
                      </a:r>
                    </a:p>
                  </a:txBody>
                  <a:tcPr/>
                </a:tc>
              </a:tr>
              <a:tr h="473825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일본 (Japan)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고급 통조림 식자재 유통사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료칸 및 기프트 숍 고급 캔 오퍼</a:t>
                      </a:r>
                    </a:p>
                  </a:txBody>
                  <a:tcPr/>
                </a:tc>
              </a:tr>
              <a:tr h="473825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베트남 (Vietnam)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고급 선물 세트 수입상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호치민/하노이 명절 선물용 캔 공급</a:t>
                      </a:r>
                    </a:p>
                  </a:txBody>
                  <a:tcPr/>
                </a:tc>
              </a:tr>
              <a:tr h="473825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태국 (Thailand)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방콕 아시안 식품 수입 벤더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고급 아시안 마트 캔 유통</a:t>
                      </a:r>
                    </a:p>
                  </a:txBody>
                  <a:tcPr/>
                </a:tc>
              </a:tr>
              <a:tr h="47383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영국 (United Kingdom)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런던 프리미엄 기프트 숍 벤더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런던 아시안 명절 기프트 공급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497D"/>
                </a:solidFill>
              </a:defRPr>
            </a:pPr>
            <a:r>
              <a:t>📊 1. 연도별 무역액 추이</a:t>
            </a:r>
          </a:p>
        </p:txBody>
      </p:sp>
      <p:pic>
        <p:nvPicPr>
          <p:cNvPr id="3" name="Picture 2" descr="01_annual_trade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448495" cy="47242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497D"/>
                </a:solidFill>
              </a:defRPr>
            </a:pPr>
            <a:r>
              <a:t>📊 2. TOP 10 주요 수출국 무역액</a:t>
            </a:r>
          </a:p>
        </p:txBody>
      </p:sp>
      <p:pic>
        <p:nvPicPr>
          <p:cNvPr id="3" name="Picture 2" descr="02_top_exporter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448495" cy="472424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497D"/>
                </a:solidFill>
              </a:defRPr>
            </a:pPr>
            <a:r>
              <a:t>📊 3. TOP 10 주요 수입국 무역액</a:t>
            </a:r>
          </a:p>
        </p:txBody>
      </p:sp>
      <p:pic>
        <p:nvPicPr>
          <p:cNvPr id="3" name="Picture 2" descr="03_top_importer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448495" cy="47242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497D"/>
                </a:solidFill>
              </a:defRPr>
            </a:pPr>
            <a:r>
              <a:t>📊 4. 전복 평균 단가 ($/kg) 분포</a:t>
            </a:r>
          </a:p>
        </p:txBody>
      </p:sp>
      <p:pic>
        <p:nvPicPr>
          <p:cNvPr id="3" name="Picture 2" descr="04_unit_pric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448495" cy="472424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497D"/>
                </a:solidFill>
              </a:defRPr>
            </a:pPr>
            <a:r>
              <a:t>📊 5. 월별 거래 계절성 지수</a:t>
            </a:r>
          </a:p>
        </p:txBody>
      </p:sp>
      <p:pic>
        <p:nvPicPr>
          <p:cNvPr id="3" name="Picture 2" descr="05_monthly_season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448495" cy="472424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497D"/>
                </a:solidFill>
              </a:defRPr>
            </a:pPr>
            <a:r>
              <a:t>📊 6. HS Code별 거래액 점유율</a:t>
            </a:r>
          </a:p>
        </p:txBody>
      </p:sp>
      <p:pic>
        <p:nvPicPr>
          <p:cNvPr id="3" name="Picture 2" descr="06_hs_code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448495" cy="944849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497D"/>
                </a:solidFill>
              </a:defRPr>
            </a:pPr>
            <a:r>
              <a:t>📊 7. 물량 vs 단가 상관관계 산점도</a:t>
            </a:r>
          </a:p>
        </p:txBody>
      </p:sp>
      <p:pic>
        <p:nvPicPr>
          <p:cNvPr id="3" name="Picture 2" descr="07_price_vs_weight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448495" cy="472424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497D"/>
                </a:solidFill>
              </a:defRPr>
            </a:pPr>
            <a:r>
              <a:t>📊 8. TOP 5 수입국 연도별 성장 추이</a:t>
            </a:r>
          </a:p>
        </p:txBody>
      </p:sp>
      <p:pic>
        <p:nvPicPr>
          <p:cNvPr id="3" name="Picture 2" descr="08_top5_importer_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448495" cy="472424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497D"/>
                </a:solidFill>
              </a:defRPr>
            </a:pPr>
            <a:r>
              <a:t>📊 9. 수입 시장 파레토 집중도 분석</a:t>
            </a:r>
          </a:p>
        </p:txBody>
      </p:sp>
      <p:pic>
        <p:nvPicPr>
          <p:cNvPr id="3" name="Picture 2" descr="09_market_concentration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448495" cy="472424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497D"/>
                </a:solidFill>
              </a:defRPr>
            </a:pPr>
            <a:r>
              <a:t>📊 10. 주요 수입국별 연도별 평균 단가 히트맵</a:t>
            </a:r>
          </a:p>
        </p:txBody>
      </p:sp>
      <p:pic>
        <p:nvPicPr>
          <p:cNvPr id="3" name="Picture 2" descr="10_export_pric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448495" cy="566909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497D"/>
                </a:solidFill>
              </a:defRPr>
            </a:pPr>
            <a:r>
              <a:t>📊 11. 무역 구조 폭포수 분석</a:t>
            </a:r>
          </a:p>
        </p:txBody>
      </p:sp>
      <p:pic>
        <p:nvPicPr>
          <p:cNvPr id="3" name="Picture 2" descr="11_trade_balance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448495" cy="472424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497D"/>
                </a:solidFill>
              </a:defRPr>
            </a:pPr>
            <a:r>
              <a:t>📊 12. TOP 주요 국가별 단가 변동성 박스플롯</a:t>
            </a:r>
          </a:p>
        </p:txBody>
      </p:sp>
      <p:pic>
        <p:nvPicPr>
          <p:cNvPr id="3" name="Picture 2" descr="12_country_price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448495" cy="472424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497D"/>
                </a:solidFill>
              </a:defRPr>
            </a:pPr>
            <a:r>
              <a:t>📊 13. 시장 집중도(HHI Index) 추이</a:t>
            </a:r>
          </a:p>
        </p:txBody>
      </p:sp>
      <p:pic>
        <p:nvPicPr>
          <p:cNvPr id="3" name="Picture 2" descr="13_hhi_index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448495" cy="472424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497D"/>
                </a:solidFill>
              </a:defRPr>
            </a:pPr>
            <a:r>
              <a:t>📊 14. 미수(Size) 규격별 가격 구조</a:t>
            </a:r>
          </a:p>
        </p:txBody>
      </p:sp>
      <p:pic>
        <p:nvPicPr>
          <p:cNvPr id="3" name="Picture 2" descr="14_size_pricing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448495" cy="472424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497D"/>
                </a:solidFill>
              </a:defRPr>
            </a:pPr>
            <a:r>
              <a:t>📊 15. 전복 유망 국가 시장 성숙도-단가 매트릭스</a:t>
            </a:r>
          </a:p>
        </p:txBody>
      </p:sp>
      <p:pic>
        <p:nvPicPr>
          <p:cNvPr id="3" name="Picture 2" descr="15_promising_country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448495" cy="47242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