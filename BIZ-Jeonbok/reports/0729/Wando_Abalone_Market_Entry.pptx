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완도 전복 글로벌 무역 EDA 및 신시장 개척 전략</a:t>
            </a:r>
          </a:p>
          <a:p>
            <a:pPr>
              <a:defRPr sz="1700">
                <a:solidFill>
                  <a:srgbClr val="D4AF37"/>
                </a:solidFill>
                <a:latin typeface="Malgun Gothic"/>
              </a:defRPr>
            </a:pPr>
            <a:r>
              <a:t>BIZ-JB-Gathered.csv 수록 HS CODE (030781, 160557, 030783) 기준 100% 매칭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글로벌 전복 무역 데이터 (5,400건) 주요 지표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600">
                <a:solidFill>
                  <a:srgbClr val="1B365D"/>
                </a:solidFill>
                <a:latin typeface="Arial Black"/>
              </a:defRPr>
            </a:pPr>
            <a:r>
              <a:t>5,400 건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222222"/>
                </a:solidFill>
                <a:latin typeface="Malgun Gothic"/>
              </a:defRPr>
            </a:pPr>
            <a:r>
              <a:t>글로벌 무역 분석 데이터</a:t>
            </a:r>
          </a:p>
          <a:p>
            <a:pPr algn="ctr">
              <a:defRPr sz="1100">
                <a:solidFill>
                  <a:srgbClr val="666666"/>
                </a:solidFill>
                <a:latin typeface="Malgun Gothic"/>
              </a:defRPr>
            </a:pPr>
            <a:r>
              <a:t>$52.09억 무역규모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600">
                <a:solidFill>
                  <a:srgbClr val="1B365D"/>
                </a:solidFill>
                <a:latin typeface="Arial Black"/>
              </a:defRPr>
            </a:pPr>
            <a:r>
              <a:t>94.1 %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222222"/>
                </a:solidFill>
                <a:latin typeface="Malgun Gothic"/>
              </a:defRPr>
            </a:pPr>
            <a:r>
              <a:t>수입(Import) 거래 비중</a:t>
            </a:r>
          </a:p>
          <a:p>
            <a:pPr algn="ctr">
              <a:defRPr sz="1100">
                <a:solidFill>
                  <a:srgbClr val="666666"/>
                </a:solidFill>
                <a:latin typeface="Malgun Gothic"/>
              </a:defRPr>
            </a:pPr>
            <a:r>
              <a:t>수입국 통관 데이터 중심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600">
                <a:solidFill>
                  <a:srgbClr val="1B365D"/>
                </a:solidFill>
                <a:latin typeface="Arial Black"/>
              </a:defRPr>
            </a:pPr>
            <a:r>
              <a:t>$33.03 / kg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222222"/>
                </a:solidFill>
                <a:latin typeface="Malgun Gothic"/>
              </a:defRPr>
            </a:pPr>
            <a:r>
              <a:t>전복 평균 단위당 단가</a:t>
            </a:r>
          </a:p>
          <a:p>
            <a:pPr algn="ctr">
              <a:defRPr sz="1100">
                <a:solidFill>
                  <a:srgbClr val="666666"/>
                </a:solidFill>
                <a:latin typeface="Malgun Gothic"/>
              </a:defRPr>
            </a:pPr>
            <a:r>
              <a:t>최고 $2,284/kg 건전복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600">
                <a:solidFill>
                  <a:srgbClr val="1B365D"/>
                </a:solidFill>
                <a:latin typeface="Arial Black"/>
              </a:defRPr>
            </a:pPr>
            <a:r>
              <a:t>$5.81 억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222222"/>
                </a:solidFill>
                <a:latin typeface="Malgun Gothic"/>
              </a:defRPr>
            </a:pPr>
            <a:r>
              <a:t>대한민국 수출 실적</a:t>
            </a:r>
          </a:p>
          <a:p>
            <a:pPr algn="ctr">
              <a:defRPr sz="1100">
                <a:solidFill>
                  <a:srgbClr val="666666"/>
                </a:solidFill>
                <a:latin typeface="Malgun Gothic"/>
              </a:defRPr>
            </a:pPr>
            <a:r>
              <a:t>세계 유일의 순수출국 입지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17종 핵심 EDA 시각화 차트 (1/2)</a:t>
            </a:r>
          </a:p>
        </p:txBody>
      </p:sp>
      <p:pic>
        <p:nvPicPr>
          <p:cNvPr id="3" name="Picture 2" descr="01_univariate_flow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377440"/>
          </a:xfrm>
          <a:prstGeom prst="rect">
            <a:avLst/>
          </a:prstGeom>
        </p:spPr>
      </p:pic>
      <p:pic>
        <p:nvPicPr>
          <p:cNvPr id="4" name="Picture 3" descr="03_univariate_reporter_top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377440"/>
          </a:xfrm>
          <a:prstGeom prst="rect">
            <a:avLst/>
          </a:prstGeom>
        </p:spPr>
      </p:pic>
      <p:pic>
        <p:nvPicPr>
          <p:cNvPr id="5" name="Picture 4" descr="06_univariate_unitprice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120640" cy="2377440"/>
          </a:xfrm>
          <a:prstGeom prst="rect">
            <a:avLst/>
          </a:prstGeom>
        </p:spPr>
      </p:pic>
      <p:pic>
        <p:nvPicPr>
          <p:cNvPr id="6" name="Picture 5" descr="09_multivariate_reporter_flow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1206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17종 핵심 EDA 시각화 차트 (2/2)</a:t>
            </a:r>
          </a:p>
        </p:txBody>
      </p:sp>
      <p:pic>
        <p:nvPicPr>
          <p:cNvPr id="3" name="Picture 2" descr="15_price_volatility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377440"/>
          </a:xfrm>
          <a:prstGeom prst="rect">
            <a:avLst/>
          </a:prstGeom>
        </p:spPr>
      </p:pic>
      <p:pic>
        <p:nvPicPr>
          <p:cNvPr id="4" name="Picture 3" descr="16_customs_trade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2377440"/>
          </a:xfrm>
          <a:prstGeom prst="rect">
            <a:avLst/>
          </a:prstGeom>
        </p:spPr>
      </p:pic>
      <p:pic>
        <p:nvPicPr>
          <p:cNvPr id="5" name="Picture 4" descr="17_country_cmd_clust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120640" cy="2377440"/>
          </a:xfrm>
          <a:prstGeom prst="rect">
            <a:avLst/>
          </a:prstGeom>
        </p:spPr>
      </p:pic>
      <p:pic>
        <p:nvPicPr>
          <p:cNvPr id="6" name="Picture 5" descr="11_tfidf_cmd_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1206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1인 종합상사 시장 개척 4분면 매트릭스 (4-Quadrant Strategy)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Quadrant I: Star (주력 개척)</a:t>
            </a:r>
          </a:p>
          <a:p>
            <a:pPr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타겟: 홍콩, 싱가포르, 마카오</a:t>
            </a:r>
          </a:p>
          <a:p>
            <a:pPr>
              <a:defRPr sz="1100">
                <a:solidFill>
                  <a:srgbClr val="222222"/>
                </a:solidFill>
                <a:latin typeface="Malgun Gothic"/>
              </a:defRPr>
            </a:pPr>
            <a:r>
              <a:t>활전복/건전복(HS 030781) 항공 산소팩 ($45~$55/kg)</a:t>
            </a:r>
            <a:br/>
            <a:r>
              <a:t>명품 건전복 선물세트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Quadrant II: Cash Cow (대량 매출)</a:t>
            </a:r>
          </a:p>
          <a:p>
            <a:pPr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타겟: 미국, 캐나다, 중국</a:t>
            </a:r>
          </a:p>
          <a:p>
            <a:pPr>
              <a:defRPr sz="1100">
                <a:solidFill>
                  <a:srgbClr val="222222"/>
                </a:solidFill>
                <a:latin typeface="Malgun Gothic"/>
              </a:defRPr>
            </a:pPr>
            <a:r>
              <a:t>전복 통조림/파우치(HS 160557) 해상 FCL</a:t>
            </a:r>
            <a:br/>
            <a:r>
              <a:t>아시안 마트 &amp; HORECA 대량 공급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Quadrant IV: Question Mark (신흥 럭셔리)</a:t>
            </a:r>
          </a:p>
          <a:p>
            <a:pPr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타겟: 일본, 베트남, 호주</a:t>
            </a:r>
          </a:p>
          <a:p>
            <a:pPr>
              <a:defRPr sz="1100">
                <a:solidFill>
                  <a:srgbClr val="222222"/>
                </a:solidFill>
                <a:latin typeface="Malgun Gothic"/>
              </a:defRPr>
            </a:pPr>
            <a:r>
              <a:t>횟감용 IQF 냉동전복(HS 030783)</a:t>
            </a:r>
            <a:br/>
            <a:r>
              <a:t>FTA 무관세 혜택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Quadrant III: Selective (니치 가공)</a:t>
            </a:r>
          </a:p>
          <a:p>
            <a:pPr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타겟: 프랑스, 네덜란드, 이탈리아</a:t>
            </a:r>
          </a:p>
          <a:p>
            <a:pPr>
              <a:defRPr sz="1100">
                <a:solidFill>
                  <a:srgbClr val="222222"/>
                </a:solidFill>
                <a:latin typeface="Malgun Gothic"/>
              </a:defRPr>
            </a:pPr>
            <a:r>
              <a:t>전복 내장 가공품(HS 160557)</a:t>
            </a:r>
            <a:br/>
            <a:r>
              <a:t>유럽 고급 시푸드 델리 시장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5대 품목별 Star &amp; Rising Star 시장 및 데이터셋 수록 HS CODE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품목 분류 (데이터셋 수록 HS Code)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Star 시장 (주력)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Rising Star 시장 (신흥)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물류 / 포장 방식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추천 CIF 단가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1. 활전복 (Live, 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홍콩, 싱가포르, 마카오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베트남, 대만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항공 (Air) 산소 해수 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$31.00~$45.00 / kg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2. 명품 건전복 (Dried, 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홍콩, 마카오, 광동성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말레이시아, 미국(중화권)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항공/해상 하드케이스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$142.00 / 500g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3. 통조림 &amp; 파우치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미국, 캐나다 (Cash Cow)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호주, 영국/독일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해상 400g 캔 / 1kg 파우치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$14.30/캔, $26.80/kg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4. 횟감용 IQF 냉동 (HS 030783)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일본 (도쿄/오사카)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베트남, 태국, 호주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해상/항공 IQF 개별동결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$30.00 / kg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5. 전복 내장소스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미국 (메인스트림)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프랑스, 네덜란드, 이탈리아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해상 유리병 / 파우치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$12.50 / 병 (200g)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품목별 Top 20 잠재고객사 / 수산 전문 바이어 매트릭스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품목 구분 (데이터셋 HS Code)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타겟 국가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바이어 사명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유통 형태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이메일 / 연락처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활전복 (HS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홍콩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On Kee Dry Seafood (安記海味)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수산 도매 / 파인다이닝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info@onkee.com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활전복 (HS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베트남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Royal Seafood (Hải Sản Hoàng Gia)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고급 활수산 프랜차이즈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info@haisanhoanggia.com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건전복 (HS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홍콩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Kee Wah Bakery &amp; Trading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보양 선물세트 유통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cs@keewah.com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건전복 (HS 030781)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말레이시아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Eu Yan Sang Malaysia (余仁生)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동남아 최대 중화 보양 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info@euyansang.com.my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통조림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미국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H Mart Commercial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대형 아시안 마트 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b2b@hmart.com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통조림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캐나다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T&amp;T Supermarket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대형 캐나다 아시안 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customer.service@tntsupermarket.com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IQF 냉동 (HS 030783)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일본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True World Foods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일식 스시/사시미 벤더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japaninfo@trueworldfoods.com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IQF 냉동 (HS 030783)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호주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De Costi Seafoods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오세아니아 최대 수산 유통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info@decosti.com.au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내장소스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프랑스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Maison Plisson / Gourmet 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파리 프리미엄 시푸드 델리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contact@lamaisonplisson.com</a:t>
                      </a:r>
                    </a:p>
                  </a:txBody>
                  <a:tcPr/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내장소스 (HS 160557)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미국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Trader Joe's Specialty Sourcing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미국 스페셜티 유통 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Malgun Gothic"/>
                        </a:defRPr>
                      </a:pPr>
                      <a:r>
                        <a:t>customer@traderjoes.com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WANDO ABALONE GLOBAL EXPANSION</a:t>
            </a:r>
          </a:p>
          <a:p>
            <a:pPr>
              <a:defRPr sz="2200" b="1">
                <a:solidFill>
                  <a:srgbClr val="1B365D"/>
                </a:solidFill>
                <a:latin typeface="Arial Black"/>
              </a:defRPr>
            </a:pPr>
            <a:r>
              <a:t>실전 비즈니스 영업 파이프라인 &amp; 5단계 액션 플레이북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20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B365D"/>
                </a:solidFill>
                <a:latin typeface="Arial Black"/>
              </a:defRPr>
            </a:pPr>
            <a:r>
              <a:t>Action 1: Pitching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Cold Outreach</a:t>
            </a:r>
          </a:p>
          <a:p>
            <a:pPr>
              <a:defRPr sz="1000">
                <a:solidFill>
                  <a:srgbClr val="222222"/>
                </a:solidFill>
                <a:latin typeface="Malgun Gothic"/>
              </a:defRPr>
            </a:pPr>
            <a:r>
              <a:t>20개 바이어 대상 영문 제안서 송부</a:t>
            </a:r>
            <a:br/>
            <a:r>
              <a:t>15% 우위 단가 + 폐사율 3% 보증 오퍼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45920"/>
            <a:ext cx="1920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B365D"/>
                </a:solidFill>
                <a:latin typeface="Arial Black"/>
              </a:defRPr>
            </a:pPr>
            <a:r>
              <a:t>Action 2: Sample Test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품질 검증</a:t>
            </a:r>
          </a:p>
          <a:p>
            <a:pPr>
              <a:defRPr sz="1000">
                <a:solidFill>
                  <a:srgbClr val="222222"/>
                </a:solidFill>
                <a:latin typeface="Malgun Gothic"/>
              </a:defRPr>
            </a:pPr>
            <a:r>
              <a:t>10kg 산소주입 활전복 Air 송부</a:t>
            </a:r>
            <a:br/>
            <a:r>
              <a:t>생존율, 수율, 멸균 검증서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645920"/>
            <a:ext cx="1920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B365D"/>
                </a:solidFill>
                <a:latin typeface="Arial Black"/>
              </a:defRPr>
            </a:pPr>
            <a:r>
              <a:t>Action 3: Contract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결제 조건</a:t>
            </a:r>
          </a:p>
          <a:p>
            <a:pPr>
              <a:defRPr sz="1000">
                <a:solidFill>
                  <a:srgbClr val="222222"/>
                </a:solidFill>
                <a:latin typeface="Malgun Gothic"/>
              </a:defRPr>
            </a:pPr>
            <a:r>
              <a:t>신규 T/T 30% Deposit / 70% B/L Copy</a:t>
            </a:r>
            <a:br/>
            <a:r>
              <a:t>대형 수산상 L/C at Sight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1920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B365D"/>
                </a:solidFill>
                <a:latin typeface="Arial Black"/>
              </a:defRPr>
            </a:pPr>
            <a:r>
              <a:t>Action 4: Compliance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통관 검역</a:t>
            </a:r>
          </a:p>
          <a:p>
            <a:pPr>
              <a:defRPr sz="1000">
                <a:solidFill>
                  <a:srgbClr val="222222"/>
                </a:solidFill>
                <a:latin typeface="Malgun Gothic"/>
              </a:defRPr>
            </a:pPr>
            <a:r>
              <a:t>미국 FDA 사전통보 / 한-베 FTA C/O</a:t>
            </a:r>
            <a:br/>
            <a:r>
              <a:t>관세 0% 적용 및 EU 위생 허가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645920"/>
            <a:ext cx="1920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B365D"/>
                </a:solidFill>
                <a:latin typeface="Arial Black"/>
              </a:defRPr>
            </a:pPr>
            <a:r>
              <a:t>Action 5: Re-order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LTV 극대화</a:t>
            </a:r>
          </a:p>
          <a:p>
            <a:pPr>
              <a:defRPr sz="1000">
                <a:solidFill>
                  <a:srgbClr val="222222"/>
                </a:solidFill>
                <a:latin typeface="Malgun Gothic"/>
              </a:defRPr>
            </a:pPr>
            <a:r>
              <a:t>춘절/중추절 3개월 전 건전복 수주</a:t>
            </a:r>
            <a:br/>
            <a:r>
              <a:t>북미/유럽 연말 통조림 FCL 발주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